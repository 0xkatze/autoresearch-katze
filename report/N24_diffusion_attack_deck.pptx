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640080"/>
            <a:ext cx="1554480" cy="155448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1920240"/>
            <a:ext cx="822960" cy="822960"/>
          </a:xfrm>
          <a:prstGeom prst="ellipse">
            <a:avLst/>
          </a:prstGeom>
          <a:solidFill>
            <a:srgbClr val="E63946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2103120"/>
            <a:ext cx="502920" cy="502920"/>
          </a:xfrm>
          <a:prstGeom prst="ellipse">
            <a:avLst/>
          </a:prstGeom>
          <a:solidFill>
            <a:srgbClr val="E9C46A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012680" y="2331720"/>
            <a:ext cx="1325880" cy="-274320"/>
          </a:xfrm>
          <a:prstGeom prst="line">
            <a:avLst/>
          </a:prstGeom>
          <a:noFill/>
          <a:ln w="19050">
            <a:solidFill>
              <a:srgbClr val="1C7293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35640" y="1417320"/>
            <a:ext cx="548640" cy="914400"/>
          </a:xfrm>
          <a:prstGeom prst="line">
            <a:avLst/>
          </a:prstGeom>
          <a:noFill/>
          <a:ln w="19050">
            <a:solidFill>
              <a:srgbClr val="E9C46A">
                <a:alpha val="6000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731520" cy="7315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9C4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ADVERSARIAL GRAPH ML  ·  EXPERIMENT REPORT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26974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Diffusion-Based Node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 Attacks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68680" y="4526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· query-only · injection-only attacks on GNN graph classifiers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 dataset  ·  GCN / GIN / GAT / SAGE / median-pool victims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68680" y="5623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98.43%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68680" y="6144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PROTEINS GCN ASR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611880" y="5623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C4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+3.58 pp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3611880" y="6144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baseline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55080" y="5623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−69%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355080" y="6144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Threat Model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492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83080"/>
            <a:ext cx="82296" cy="19659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896112" y="20391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157984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20208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Black-box, query-only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627632" y="2386584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sees only output logits — never gradients or weights. All gradients are zeroth-order (CGE) estimates from queries.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783080"/>
            <a:ext cx="53492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63640" y="1783080"/>
            <a:ext cx="82296" cy="19659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19672" y="2039112"/>
            <a:ext cx="566928" cy="566928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544" y="2157984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51192" y="20208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Injection-only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251192" y="2386584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graph is never mutated. Attacker appends new nodes with chosen features + edges. Construction is provably pure.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3977640"/>
            <a:ext cx="53492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0080" y="3977640"/>
            <a:ext cx="82296" cy="19659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9" name="Shape 15"/>
          <p:cNvSpPr/>
          <p:nvPr/>
        </p:nvSpPr>
        <p:spPr>
          <a:xfrm>
            <a:off x="896112" y="4233672"/>
            <a:ext cx="566928" cy="566928"/>
          </a:xfrm>
          <a:prstGeom prst="ellipse">
            <a:avLst/>
          </a:prstGeom>
          <a:solidFill>
            <a:srgbClr val="E9C46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352544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27632" y="42153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budget = avg degree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27632" y="4581144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injected node connects to at most ⌈2|E|/|N|⌉ original nodes — a stealth constraint, not full connectivity.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263640" y="3977640"/>
            <a:ext cx="534924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63640" y="3977640"/>
            <a:ext cx="82296" cy="196596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5" name="Shape 20"/>
          <p:cNvSpPr/>
          <p:nvPr/>
        </p:nvSpPr>
        <p:spPr>
          <a:xfrm>
            <a:off x="6519672" y="4233672"/>
            <a:ext cx="566928" cy="566928"/>
          </a:xfrm>
          <a:prstGeom prst="ellipse">
            <a:avLst/>
          </a:prstGeom>
          <a:solidFill>
            <a:srgbClr val="E63946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4352544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251192" y="42153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Goal: flip the prediction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7251192" y="4581144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Untargeted CW-margin objective. Success = the classifier changes its label for a previously-correct graph.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FINDING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Diffusion Failed 3×, Then Worked</a:t>
            </a:r>
            <a:endParaRPr lang="en-US" sz="3000" dirty="0"/>
          </a:p>
        </p:txBody>
      </p:sp>
      <p:pic>
        <p:nvPicPr>
          <p:cNvPr id="5" name="Image 0" descr="figures/chart_mechanism_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858000" cy="4151376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818120" y="1554480"/>
            <a:ext cx="3794760" cy="41513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554480"/>
            <a:ext cx="3794760" cy="54864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0" y="16276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046720" y="2286000"/>
            <a:ext cx="3383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feature-space diffusion is inert.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fixed full-connectivity topology, GCN normalization absorbs all feature variation — ~5% of graphs are topology-immune.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edges part of the diffusion state →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trajectory gains a dimension that actually changes the prediction. Ceiling broken.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N24 Tuning Stack  (94.85% → 98.43%)</a:t>
            </a:r>
            <a:endParaRPr lang="en-US" sz="3000" dirty="0"/>
          </a:p>
        </p:txBody>
      </p:sp>
      <p:pic>
        <p:nvPicPr>
          <p:cNvPr id="5" name="Image 0" descr="figures/chart_asr_prog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766560" cy="3877056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772400" y="1645920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09560" y="1792224"/>
            <a:ext cx="438912" cy="43891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88366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58200" y="17190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Baseline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458200" y="202996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5-restart Adam + zeroth-order CGE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772400" y="2487168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909560" y="2633472"/>
            <a:ext cx="438912" cy="43891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2491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58200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Joint X+A diffusion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8458200" y="287121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DDIM + greedy edge search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0" y="3328416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909560" y="3474720"/>
            <a:ext cx="438912" cy="438912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56616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58200" y="34015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Budget ≤ k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8458200" y="37124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budget as upper bound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7772400" y="4169664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09560" y="4315968"/>
            <a:ext cx="438912" cy="438912"/>
          </a:xfrm>
          <a:prstGeom prst="ellipse">
            <a:avLst/>
          </a:prstGeom>
          <a:solidFill>
            <a:srgbClr val="E9C46A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407408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458200" y="42428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k_sweep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458200" y="45537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stuck graphs at other k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772400" y="5010912"/>
            <a:ext cx="38404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7909560" y="5157216"/>
            <a:ext cx="438912" cy="438912"/>
          </a:xfrm>
          <a:prstGeom prst="ellipse">
            <a:avLst/>
          </a:prstGeom>
          <a:solidFill>
            <a:srgbClr val="E63946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5248656"/>
            <a:ext cx="256032" cy="25603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458200" y="5084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Per-node escalation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845820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m=2 with independent edge masks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C4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ANALYSIS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Each Tier Earns Its Keep</a:t>
            </a:r>
            <a:endParaRPr lang="en-US" sz="3000" dirty="0"/>
          </a:p>
        </p:txBody>
      </p:sp>
      <p:pic>
        <p:nvPicPr>
          <p:cNvPr id="5" name="Image 0" descr="figures/chart_diffusion_con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7315200" cy="4032504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8229600" y="1783080"/>
            <a:ext cx="33832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30768" y="2093976"/>
            <a:ext cx="502920" cy="502920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1352" y="2194560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98280" y="194767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Folds 0 &amp; 4 fully solved by the baseline alone — diffusion never fires.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229600" y="3108960"/>
            <a:ext cx="33832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430768" y="3419856"/>
            <a:ext cx="502920" cy="502920"/>
          </a:xfrm>
          <a:prstGeom prst="ellipse">
            <a:avLst/>
          </a:prstGeom>
          <a:solidFill>
            <a:srgbClr val="E6394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1352" y="3520440"/>
            <a:ext cx="301752" cy="3017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098280" y="327355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Folds 1–2 are where joint diffusion + escalation rescue 30 graphs Adam missed.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8229600" y="4434840"/>
            <a:ext cx="33832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8430768" y="4745736"/>
            <a:ext cx="502920" cy="502920"/>
          </a:xfrm>
          <a:prstGeom prst="ellipse">
            <a:avLst/>
          </a:prstGeom>
          <a:solidFill>
            <a:srgbClr val="E9C46A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846320"/>
            <a:ext cx="301752" cy="30175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98280" y="4599432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8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graphs remain stuck — small graphs where one node can't move the readout.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GENERALIZATION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Actually Defends?</a:t>
            </a:r>
            <a:endParaRPr lang="en-US" sz="3000" dirty="0"/>
          </a:p>
        </p:txBody>
      </p:sp>
      <p:pic>
        <p:nvPicPr>
          <p:cNvPr id="5" name="Image 0" descr="figures/chart_robust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223760" cy="408736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8092440" y="1691640"/>
            <a:ext cx="3520440" cy="1828800"/>
          </a:xfrm>
          <a:prstGeom prst="rect">
            <a:avLst/>
          </a:prstGeom>
          <a:solidFill>
            <a:srgbClr val="E6394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20240"/>
            <a:ext cx="45720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869680" y="193852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 type ≠ defense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321040" y="246888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GIN, GAT, SAGE all use mean-pool and are MORE vulnerable than GCN — 100% ASR with diffusion never firing.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92440" y="3703320"/>
            <a:ext cx="3520440" cy="1874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Shape 7"/>
          <p:cNvSpPr/>
          <p:nvPr/>
        </p:nvSpPr>
        <p:spPr>
          <a:xfrm>
            <a:off x="8275320" y="3913632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7616" y="3995928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887968" y="39502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 the READOUT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8321040" y="4498848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F5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median-pool resists (92.46%). The pooling — not the aggregator — is the true attack surface.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STRESS TEST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676656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Defeating the Median-Pool Defense</a:t>
            </a:r>
            <a:endParaRPr lang="en-US" sz="3000" dirty="0"/>
          </a:p>
        </p:txBody>
      </p:sp>
      <p:pic>
        <p:nvPicPr>
          <p:cNvPr id="5" name="Image 0" descr="figures/chart_defense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949440" cy="42062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7909560" y="1737360"/>
            <a:ext cx="37033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09560" y="1737360"/>
            <a:ext cx="3703320" cy="5486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5"/>
          <p:cNvSpPr/>
          <p:nvPr/>
        </p:nvSpPr>
        <p:spPr>
          <a:xfrm>
            <a:off x="8092440" y="181051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DIFFUSION MATTERS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092440" y="24231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8D9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5F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baseline-solo ASR on the hardest fold once median-pool defends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92.46%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5F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by joint X+A diffusion + k_sweep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diffusion mechanism earns its keep precisely against defenses — on undefended models a simple baseline suffices.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9C46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400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9C46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77240" y="171907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Lessons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777240" y="2697480"/>
            <a:ext cx="10607040" cy="1143000"/>
          </a:xfrm>
          <a:prstGeom prst="rect">
            <a:avLst/>
          </a:prstGeom>
          <a:solidFill>
            <a:srgbClr val="2C3666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2697480"/>
            <a:ext cx="91440" cy="1143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Shape 5"/>
          <p:cNvSpPr/>
          <p:nvPr/>
        </p:nvSpPr>
        <p:spPr>
          <a:xfrm>
            <a:off x="1051560" y="3008376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311810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28620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Topology must be in the diffusion state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828800" y="326440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Feature-only graph diffusion is inert — it never beats a trivial injection. Edges must be an optimization variable.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777240" y="3995928"/>
            <a:ext cx="10607040" cy="1143000"/>
          </a:xfrm>
          <a:prstGeom prst="rect">
            <a:avLst/>
          </a:prstGeom>
          <a:solidFill>
            <a:srgbClr val="2C3666"/>
          </a:solidFill>
          <a:ln/>
        </p:spPr>
      </p:sp>
      <p:sp>
        <p:nvSpPr>
          <p:cNvPr id="13" name="Shape 9"/>
          <p:cNvSpPr/>
          <p:nvPr/>
        </p:nvSpPr>
        <p:spPr>
          <a:xfrm>
            <a:off x="777240" y="3995928"/>
            <a:ext cx="91440" cy="11430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4" name="Shape 10"/>
          <p:cNvSpPr/>
          <p:nvPr/>
        </p:nvSpPr>
        <p:spPr>
          <a:xfrm>
            <a:off x="1051560" y="4306824"/>
            <a:ext cx="530352" cy="530352"/>
          </a:xfrm>
          <a:prstGeom prst="ellipse">
            <a:avLst/>
          </a:prstGeom>
          <a:solidFill>
            <a:srgbClr val="2A9D8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4416552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828800" y="41605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readout is the attack surface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828800" y="4562856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the convolution (GIN/GAT/SAGE) is not a defense. Defend the pooling: median or trimmed-mean.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777240" y="5294376"/>
            <a:ext cx="10607040" cy="1143000"/>
          </a:xfrm>
          <a:prstGeom prst="rect">
            <a:avLst/>
          </a:prstGeom>
          <a:solidFill>
            <a:srgbClr val="2C3666"/>
          </a:solidFill>
          <a:ln/>
        </p:spPr>
      </p:sp>
      <p:sp>
        <p:nvSpPr>
          <p:cNvPr id="19" name="Shape 14"/>
          <p:cNvSpPr/>
          <p:nvPr/>
        </p:nvSpPr>
        <p:spPr>
          <a:xfrm>
            <a:off x="777240" y="5294376"/>
            <a:ext cx="91440" cy="114300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0" name="Shape 15"/>
          <p:cNvSpPr/>
          <p:nvPr/>
        </p:nvSpPr>
        <p:spPr>
          <a:xfrm>
            <a:off x="1051560" y="5605272"/>
            <a:ext cx="530352" cy="530352"/>
          </a:xfrm>
          <a:prstGeom prst="ellipse">
            <a:avLst/>
          </a:prstGeom>
          <a:solidFill>
            <a:srgbClr val="E6394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288" y="5715000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28800" y="545896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Diffusion proves itself against defenses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1828800" y="5861304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undefended models a baseline suffices; against median-pool, diffusion is the difference between 63% and 92%.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Diffusion-Based Node Injection Attacks</dc:title>
  <dc:subject>PptxGenJS Presentation</dc:subject>
  <dc:creator>KATZE AutoResearch</dc:creator>
  <cp:lastModifiedBy>KATZE AutoResearch</cp:lastModifiedBy>
  <cp:revision>1</cp:revision>
  <dcterms:created xsi:type="dcterms:W3CDTF">2026-05-20T01:53:04Z</dcterms:created>
  <dcterms:modified xsi:type="dcterms:W3CDTF">2026-05-20T01:53:04Z</dcterms:modified>
</cp:coreProperties>
</file>